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3087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9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A97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RESTORAN İDARƏETMƏ SİSTEMİ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Menyu  •  Online Sifariş  •  Real-time İdarəetmə  •  AI Köməkçi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0" y="3247478"/>
            <a:ext cx="2743200" cy="18288"/>
          </a:xfrm>
          <a:prstGeom prst="rect">
            <a:avLst/>
          </a:prstGeom>
          <a:solidFill>
            <a:srgbClr val="C8A97E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  •  PostgreSQL  •  SignalR  •  Kapital Bank  •  Google Gemini AI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3840480"/>
            <a:ext cx="1600200" cy="914400"/>
          </a:xfrm>
          <a:prstGeom prst="rect">
            <a:avLst/>
          </a:prstGeom>
          <a:solidFill>
            <a:srgbClr val="4E73DF">
              <a:alpha val="20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402336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9502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Sifariş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103120" y="3840480"/>
            <a:ext cx="1600200" cy="914400"/>
          </a:xfrm>
          <a:prstGeom prst="rect">
            <a:avLst/>
          </a:prstGeom>
          <a:solidFill>
            <a:srgbClr val="1CC88A">
              <a:alpha val="20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848" y="402336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606040" y="39502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Ödəniş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886200" y="3840480"/>
            <a:ext cx="1600200" cy="914400"/>
          </a:xfrm>
          <a:prstGeom prst="rect">
            <a:avLst/>
          </a:prstGeom>
          <a:solidFill>
            <a:srgbClr val="8E44AD">
              <a:alpha val="20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5928" y="4023360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389120" y="39502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Köməkçi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669280" y="3840480"/>
            <a:ext cx="1600200" cy="914400"/>
          </a:xfrm>
          <a:prstGeom prst="rect">
            <a:avLst/>
          </a:prstGeom>
          <a:solidFill>
            <a:srgbClr val="C8A97E">
              <a:alpha val="20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9008" y="4023360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72200" y="39502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7452360" y="3840480"/>
            <a:ext cx="1600200" cy="914400"/>
          </a:xfrm>
          <a:prstGeom prst="rect">
            <a:avLst/>
          </a:prstGeom>
          <a:solidFill>
            <a:srgbClr val="E74A3B">
              <a:alpha val="20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2088" y="4023360"/>
            <a:ext cx="347472" cy="34747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955280" y="39502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Təhlükəsiz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8A97E"/>
          </a:solidFill>
          <a:ln/>
        </p:spPr>
      </p:sp>
      <p:sp>
        <p:nvSpPr>
          <p:cNvPr id="24" name="Rectangle 23"/>
          <p:cNvSpPr/>
          <p:nvPr/>
        </p:nvSpPr>
        <p:spPr>
          <a:xfrm>
            <a:off x="3794517" y="2924294"/>
            <a:ext cx="18364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Azimov</a:t>
            </a:r>
            <a:r>
              <a:rPr lang="en-US" dirty="0" smtClean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SeyidAkif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ARXİTEKTURA — Clean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6459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1645920" cy="6400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234440"/>
            <a:ext cx="731520" cy="731520"/>
          </a:xfrm>
          <a:prstGeom prst="ellipse">
            <a:avLst/>
          </a:prstGeom>
          <a:solidFill>
            <a:srgbClr val="2C3E50">
              <a:alpha val="10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258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2468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Entity, Enum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Interface, Exception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011680" y="1005840"/>
            <a:ext cx="16459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11680" y="1005840"/>
            <a:ext cx="1645920" cy="6400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2" name="Shape 9"/>
          <p:cNvSpPr/>
          <p:nvPr/>
        </p:nvSpPr>
        <p:spPr>
          <a:xfrm>
            <a:off x="2468880" y="1234440"/>
            <a:ext cx="731520" cy="731520"/>
          </a:xfrm>
          <a:prstGeom prst="ellipse">
            <a:avLst/>
          </a:prstGeom>
          <a:solidFill>
            <a:srgbClr val="2980B9">
              <a:alpha val="10000"/>
            </a:srgbClr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32588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1168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103120" y="2468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Service, DTO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Validator, Mapper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794760" y="1005840"/>
            <a:ext cx="16459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94760" y="1005840"/>
            <a:ext cx="1645920" cy="640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Shape 14"/>
          <p:cNvSpPr/>
          <p:nvPr/>
        </p:nvSpPr>
        <p:spPr>
          <a:xfrm>
            <a:off x="4251960" y="1234440"/>
            <a:ext cx="731520" cy="731520"/>
          </a:xfrm>
          <a:prstGeom prst="ellipse">
            <a:avLst/>
          </a:prstGeom>
          <a:solidFill>
            <a:srgbClr val="27AE60">
              <a:alpha val="10000"/>
            </a:srgbClr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32588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9476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886200" y="2468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Core, Repository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Work, Config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577840" y="1005840"/>
            <a:ext cx="16459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577840" y="1005840"/>
            <a:ext cx="1645920" cy="640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4" name="Shape 19"/>
          <p:cNvSpPr/>
          <p:nvPr/>
        </p:nvSpPr>
        <p:spPr>
          <a:xfrm>
            <a:off x="6035040" y="1234440"/>
            <a:ext cx="731520" cy="731520"/>
          </a:xfrm>
          <a:prstGeom prst="ellipse">
            <a:avLst/>
          </a:prstGeom>
          <a:solidFill>
            <a:srgbClr val="8E44AD">
              <a:alpha val="10000"/>
            </a:srgbClr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1325880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669280" y="2468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SignalR, Kapital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Cloudinary, QR, AI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7360920" y="1005840"/>
            <a:ext cx="16459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360920" y="1005840"/>
            <a:ext cx="1645920" cy="640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0" name="Shape 24"/>
          <p:cNvSpPr/>
          <p:nvPr/>
        </p:nvSpPr>
        <p:spPr>
          <a:xfrm>
            <a:off x="7818120" y="1234440"/>
            <a:ext cx="731520" cy="731520"/>
          </a:xfrm>
          <a:prstGeom prst="ellipse">
            <a:avLst/>
          </a:prstGeom>
          <a:solidFill>
            <a:srgbClr val="E67E22">
              <a:alpha val="10000"/>
            </a:srgbClr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1325880"/>
            <a:ext cx="548640" cy="5486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36092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452360" y="2468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Controller, Middleware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Swagger, Static Files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228600" y="3749040"/>
            <a:ext cx="8686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54864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— DB abstraksiyası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Work — Bir transaction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Pattern — Entity gizlənməsi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— Loose coupling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TEXNOLOGİYALAR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057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143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6012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8600" y="1005840"/>
            <a:ext cx="54864" cy="1097280"/>
          </a:xfrm>
          <a:prstGeom prst="rect">
            <a:avLst/>
          </a:prstGeom>
          <a:solidFill>
            <a:srgbClr val="512BD4"/>
          </a:solidFill>
          <a:ln/>
        </p:spPr>
      </p:sp>
      <p:sp>
        <p:nvSpPr>
          <p:cNvPr id="9" name="Shape 6"/>
          <p:cNvSpPr/>
          <p:nvPr/>
        </p:nvSpPr>
        <p:spPr>
          <a:xfrm>
            <a:off x="2468880" y="1005840"/>
            <a:ext cx="2057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23444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0" y="1143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20040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468880" y="1005840"/>
            <a:ext cx="54864" cy="1097280"/>
          </a:xfrm>
          <a:prstGeom prst="rect">
            <a:avLst/>
          </a:prstGeom>
          <a:solidFill>
            <a:srgbClr val="68217A"/>
          </a:solidFill>
          <a:ln/>
        </p:spPr>
      </p:sp>
      <p:sp>
        <p:nvSpPr>
          <p:cNvPr id="14" name="Shape 10"/>
          <p:cNvSpPr/>
          <p:nvPr/>
        </p:nvSpPr>
        <p:spPr>
          <a:xfrm>
            <a:off x="4709160" y="1005840"/>
            <a:ext cx="2057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23444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0680" y="1143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44068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709160" y="1005840"/>
            <a:ext cx="54864" cy="109728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19" name="Shape 14"/>
          <p:cNvSpPr/>
          <p:nvPr/>
        </p:nvSpPr>
        <p:spPr>
          <a:xfrm>
            <a:off x="6949440" y="1005840"/>
            <a:ext cx="2057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23444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0960" y="1143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68096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6949440" y="1005840"/>
            <a:ext cx="54864" cy="10972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4" name="Shape 18"/>
          <p:cNvSpPr/>
          <p:nvPr/>
        </p:nvSpPr>
        <p:spPr>
          <a:xfrm>
            <a:off x="228600" y="2331720"/>
            <a:ext cx="2057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2560320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012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Identity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96012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228600" y="2331720"/>
            <a:ext cx="54864" cy="10972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9" name="Shape 22"/>
          <p:cNvSpPr/>
          <p:nvPr/>
        </p:nvSpPr>
        <p:spPr>
          <a:xfrm>
            <a:off x="2468880" y="2331720"/>
            <a:ext cx="2057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6040" y="2560320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20040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FluentValidation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320040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2468880" y="2331720"/>
            <a:ext cx="54864" cy="109728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4" name="Shape 26"/>
          <p:cNvSpPr/>
          <p:nvPr/>
        </p:nvSpPr>
        <p:spPr>
          <a:xfrm>
            <a:off x="4709160" y="2331720"/>
            <a:ext cx="2057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2560320"/>
            <a:ext cx="502920" cy="5029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44068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Kapital Bank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544068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ödəniş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4709160" y="2331720"/>
            <a:ext cx="54864" cy="10972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9" name="Shape 30"/>
          <p:cNvSpPr/>
          <p:nvPr/>
        </p:nvSpPr>
        <p:spPr>
          <a:xfrm>
            <a:off x="6949440" y="2331720"/>
            <a:ext cx="2057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2560320"/>
            <a:ext cx="502920" cy="50292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68096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768096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Şəkil hosting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6949440" y="2331720"/>
            <a:ext cx="54864" cy="1097280"/>
          </a:xfrm>
          <a:prstGeom prst="rect">
            <a:avLst/>
          </a:prstGeom>
          <a:solidFill>
            <a:srgbClr val="3448C5"/>
          </a:solidFill>
          <a:ln/>
        </p:spPr>
      </p:sp>
      <p:sp>
        <p:nvSpPr>
          <p:cNvPr id="44" name="Shape 34"/>
          <p:cNvSpPr/>
          <p:nvPr/>
        </p:nvSpPr>
        <p:spPr>
          <a:xfrm>
            <a:off x="228600" y="3657600"/>
            <a:ext cx="2057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760" y="3886200"/>
            <a:ext cx="502920" cy="50292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60120" y="3794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QRCoder</a:t>
            </a:r>
            <a:endParaRPr lang="en-US" sz="1100" dirty="0"/>
          </a:p>
        </p:txBody>
      </p:sp>
      <p:sp>
        <p:nvSpPr>
          <p:cNvPr id="47" name="Text 36"/>
          <p:cNvSpPr/>
          <p:nvPr/>
        </p:nvSpPr>
        <p:spPr>
          <a:xfrm>
            <a:off x="960120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generasiya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228600" y="3657600"/>
            <a:ext cx="54864" cy="10972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9" name="Shape 38"/>
          <p:cNvSpPr/>
          <p:nvPr/>
        </p:nvSpPr>
        <p:spPr>
          <a:xfrm>
            <a:off x="2468880" y="3657600"/>
            <a:ext cx="2057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6040" y="3886200"/>
            <a:ext cx="502920" cy="502920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3200400" y="3794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00" dirty="0"/>
          </a:p>
        </p:txBody>
      </p:sp>
      <p:sp>
        <p:nvSpPr>
          <p:cNvPr id="52" name="Text 40"/>
          <p:cNvSpPr/>
          <p:nvPr/>
        </p:nvSpPr>
        <p:spPr>
          <a:xfrm>
            <a:off x="3200400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köməkçi</a:t>
            </a:r>
            <a:endParaRPr lang="en-US" sz="900" dirty="0"/>
          </a:p>
        </p:txBody>
      </p:sp>
      <p:sp>
        <p:nvSpPr>
          <p:cNvPr id="53" name="Shape 41"/>
          <p:cNvSpPr/>
          <p:nvPr/>
        </p:nvSpPr>
        <p:spPr>
          <a:xfrm>
            <a:off x="2468880" y="3657600"/>
            <a:ext cx="54864" cy="1097280"/>
          </a:xfrm>
          <a:prstGeom prst="rect">
            <a:avLst/>
          </a:prstGeom>
          <a:solidFill>
            <a:srgbClr val="886FBF"/>
          </a:solidFill>
          <a:ln/>
        </p:spPr>
      </p:sp>
      <p:sp>
        <p:nvSpPr>
          <p:cNvPr id="54" name="Shape 42"/>
          <p:cNvSpPr/>
          <p:nvPr/>
        </p:nvSpPr>
        <p:spPr>
          <a:xfrm>
            <a:off x="4709160" y="3657600"/>
            <a:ext cx="2057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46320" y="3886200"/>
            <a:ext cx="502920" cy="502920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5440680" y="3794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100" dirty="0"/>
          </a:p>
        </p:txBody>
      </p:sp>
      <p:sp>
        <p:nvSpPr>
          <p:cNvPr id="57" name="Text 44"/>
          <p:cNvSpPr/>
          <p:nvPr/>
        </p:nvSpPr>
        <p:spPr>
          <a:xfrm>
            <a:off x="5440680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Qrafiklər</a:t>
            </a:r>
            <a:endParaRPr lang="en-US" sz="900" dirty="0"/>
          </a:p>
        </p:txBody>
      </p:sp>
      <p:sp>
        <p:nvSpPr>
          <p:cNvPr id="58" name="Shape 45"/>
          <p:cNvSpPr/>
          <p:nvPr/>
        </p:nvSpPr>
        <p:spPr>
          <a:xfrm>
            <a:off x="4709160" y="3657600"/>
            <a:ext cx="54864" cy="1097280"/>
          </a:xfrm>
          <a:prstGeom prst="rect">
            <a:avLst/>
          </a:prstGeom>
          <a:solidFill>
            <a:srgbClr val="FF6384"/>
          </a:solidFill>
          <a:ln/>
        </p:spPr>
      </p:sp>
      <p:sp>
        <p:nvSpPr>
          <p:cNvPr id="59" name="Shape 46"/>
          <p:cNvSpPr/>
          <p:nvPr/>
        </p:nvSpPr>
        <p:spPr>
          <a:xfrm>
            <a:off x="6949440" y="3657600"/>
            <a:ext cx="2057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6600" y="3886200"/>
            <a:ext cx="502920" cy="502920"/>
          </a:xfrm>
          <a:prstGeom prst="rect">
            <a:avLst/>
          </a:prstGeom>
        </p:spPr>
      </p:pic>
      <p:sp>
        <p:nvSpPr>
          <p:cNvPr id="61" name="Text 47"/>
          <p:cNvSpPr/>
          <p:nvPr/>
        </p:nvSpPr>
        <p:spPr>
          <a:xfrm>
            <a:off x="7680960" y="3794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100" dirty="0"/>
          </a:p>
        </p:txBody>
      </p:sp>
      <p:sp>
        <p:nvSpPr>
          <p:cNvPr id="62" name="Text 48"/>
          <p:cNvSpPr/>
          <p:nvPr/>
        </p:nvSpPr>
        <p:spPr>
          <a:xfrm>
            <a:off x="7680960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UI</a:t>
            </a:r>
            <a:endParaRPr lang="en-US" sz="900" dirty="0"/>
          </a:p>
        </p:txBody>
      </p:sp>
      <p:sp>
        <p:nvSpPr>
          <p:cNvPr id="63" name="Shape 49"/>
          <p:cNvSpPr/>
          <p:nvPr/>
        </p:nvSpPr>
        <p:spPr>
          <a:xfrm>
            <a:off x="6949440" y="3657600"/>
            <a:ext cx="54864" cy="1097280"/>
          </a:xfrm>
          <a:prstGeom prst="rect">
            <a:avLst/>
          </a:prstGeom>
          <a:solidFill>
            <a:srgbClr val="7952B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SİFARİŞ AXINI — QR ilə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1645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640080" cy="640080"/>
          </a:xfrm>
          <a:prstGeom prst="ellipse">
            <a:avLst/>
          </a:prstGeom>
          <a:solidFill>
            <a:srgbClr val="4E73D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Skan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Müştəri masadakı QR kodu telefonla skan edir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011680" y="1051560"/>
            <a:ext cx="1645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1234440"/>
            <a:ext cx="640080" cy="6400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Text 9"/>
          <p:cNvSpPr/>
          <p:nvPr/>
        </p:nvSpPr>
        <p:spPr>
          <a:xfrm>
            <a:off x="251460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205740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1168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 &amp; Səbət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10312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Kateqoriyalara baxır, məhsul seçir, səbətə əlavə edir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794760" y="1051560"/>
            <a:ext cx="1645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97680" y="1234440"/>
            <a:ext cx="640080" cy="640080"/>
          </a:xfrm>
          <a:prstGeom prst="ellipse">
            <a:avLst/>
          </a:prstGeom>
          <a:solidFill>
            <a:srgbClr val="1CC88A"/>
          </a:solidFill>
          <a:ln/>
        </p:spPr>
      </p:sp>
      <p:sp>
        <p:nvSpPr>
          <p:cNvPr id="18" name="Text 14"/>
          <p:cNvSpPr/>
          <p:nvPr/>
        </p:nvSpPr>
        <p:spPr>
          <a:xfrm>
            <a:off x="42976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205740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9476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Sifariş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88620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Səbəti təsdiqləyir, sifariş mətbəxə düşür (SignalR)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577840" y="1051560"/>
            <a:ext cx="1645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080760" y="1234440"/>
            <a:ext cx="640080" cy="640080"/>
          </a:xfrm>
          <a:prstGeom prst="ellipse">
            <a:avLst/>
          </a:prstGeom>
          <a:solidFill>
            <a:srgbClr val="E74A3B"/>
          </a:solidFill>
          <a:ln/>
        </p:spPr>
      </p:sp>
      <p:sp>
        <p:nvSpPr>
          <p:cNvPr id="24" name="Text 19"/>
          <p:cNvSpPr/>
          <p:nvPr/>
        </p:nvSpPr>
        <p:spPr>
          <a:xfrm>
            <a:off x="608076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057400"/>
            <a:ext cx="640080" cy="6400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Hazırlanır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66928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Mətbəx sifarişi hazırlayır, status real-time yenilənir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7360920" y="1051560"/>
            <a:ext cx="1645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863840" y="1234440"/>
            <a:ext cx="640080" cy="64008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30" name="Text 24"/>
          <p:cNvSpPr/>
          <p:nvPr/>
        </p:nvSpPr>
        <p:spPr>
          <a:xfrm>
            <a:off x="786384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2057400"/>
            <a:ext cx="640080" cy="6400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36092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Ödəniş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745236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(Kapital Bank) və ya masada nağd/POS ödəniş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228600" y="4206240"/>
            <a:ext cx="8686800" cy="640080"/>
          </a:xfrm>
          <a:prstGeom prst="rect">
            <a:avLst/>
          </a:prstGeom>
          <a:solidFill>
            <a:srgbClr val="1A1A2E">
              <a:alpha val="5000"/>
            </a:srgbClr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 proses real-time SignalR ilə izlənir — müştəri, mətbəx, kassir, ofisiant eyni anda görür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MÜŞTƏRİ FUNKSİYALARI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0574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1430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1737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Menyu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2011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Kateqoriya filter, şəkillər, qiymətlər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468880" y="1005840"/>
            <a:ext cx="20574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1430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68880" y="1737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Səbət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560320" y="2011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+/- miqdar, max 50 ədəd, 20 məhsul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09160" y="1005840"/>
            <a:ext cx="20574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1430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09160" y="1737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Sifariş İzləmə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800600" y="2011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(SignalR bildiriş)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949440" y="1005840"/>
            <a:ext cx="20574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114300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1737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Hesab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7040880" y="2011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 sifarişlər, ümumi məbləğ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228600" y="2834640"/>
            <a:ext cx="20574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297180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28600" y="3566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Ödəniş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20040" y="3840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Kapital Bank test inteqrasiya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2468880" y="2834640"/>
            <a:ext cx="20574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2971800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468880" y="3566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2560320" y="3840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Ofisiantla real-time mesajlaşma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4709160" y="2834640"/>
            <a:ext cx="20574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2971800"/>
            <a:ext cx="548640" cy="54864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09160" y="3566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Ofisiant Çağır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4800600" y="3840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düymə ilə, 15s cooldown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6949440" y="2834640"/>
            <a:ext cx="20574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2971800"/>
            <a:ext cx="548640" cy="54864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949440" y="3566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Köməkçi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7040880" y="3840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— menyu, saat, rezervasiya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İDARƏETMƏ PANELLƏRİ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0574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057400" cy="457200"/>
          </a:xfrm>
          <a:prstGeom prst="rect">
            <a:avLst/>
          </a:prstGeom>
          <a:solidFill>
            <a:srgbClr val="4E73DF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51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CRUD, Hesabat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generasiya, İstifadəçilər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20574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005840"/>
            <a:ext cx="2057400" cy="457200"/>
          </a:xfrm>
          <a:prstGeom prst="rect">
            <a:avLst/>
          </a:prstGeom>
          <a:solidFill>
            <a:srgbClr val="E74A3B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051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Mətbəx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16459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sifarişlər (real-time)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dəyişmə, Timer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20574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05840"/>
            <a:ext cx="2057400" cy="457200"/>
          </a:xfrm>
          <a:prstGeom prst="rect">
            <a:avLst/>
          </a:prstGeom>
          <a:solidFill>
            <a:srgbClr val="1CC88A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051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Kassir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6459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seçimi, Hesab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Nağd / POS ödəniş, Çek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005840"/>
            <a:ext cx="20574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1005840"/>
            <a:ext cx="2057400" cy="457200"/>
          </a:xfrm>
          <a:prstGeom prst="rect">
            <a:avLst/>
          </a:prstGeom>
          <a:solidFill>
            <a:srgbClr val="C8A97E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051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Ofisiant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86600" y="16459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Təyin olunmuş masalar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Sifarişlər, Chat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566160"/>
            <a:ext cx="8686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Xüsusiyyətləri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Kateqoriya/Məhsul CRUD + Cloudinary şəkil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CRUD + QR kod generasiya + çap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Rezervasiya idarəetmə + avtomatik cleanup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Gəlir/sifariş hesabat qrafikləri (Chart.js)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 səhifələr SignalR ilə real-time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A9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SİSTEM — SignalR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24244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502920"/>
          </a:xfrm>
          <a:prstGeom prst="rect">
            <a:avLst/>
          </a:prstGeom>
          <a:solidFill>
            <a:srgbClr val="4E73D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73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NewOrder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Müştəri sifariş verir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0" y="914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Mətbəx + Dashboard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8595360" cy="502920"/>
          </a:xfrm>
          <a:prstGeom prst="rect">
            <a:avLst/>
          </a:prstGeom>
          <a:solidFill>
            <a:srgbClr val="24244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54480"/>
            <a:ext cx="54864" cy="502920"/>
          </a:xfrm>
          <a:prstGeom prst="rect">
            <a:avLst/>
          </a:prstGeom>
          <a:solidFill>
            <a:srgbClr val="36B9C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54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B9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OrderStatusChanged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Mətbəx status dəyişir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1554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Müştəri telefonu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8595360" cy="502920"/>
          </a:xfrm>
          <a:prstGeom prst="rect">
            <a:avLst/>
          </a:prstGeom>
          <a:solidFill>
            <a:srgbClr val="24244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94560"/>
            <a:ext cx="54864" cy="502920"/>
          </a:xfrm>
          <a:prstGeom prst="rect">
            <a:avLst/>
          </a:prstGeom>
          <a:solidFill>
            <a:srgbClr val="1CC88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C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TableClosed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Kassir ödəniş edir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2194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Müştəri → success səhifə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8595360" cy="502920"/>
          </a:xfrm>
          <a:prstGeom prst="rect">
            <a:avLst/>
          </a:prstGeom>
          <a:solidFill>
            <a:srgbClr val="24244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34640"/>
            <a:ext cx="54864" cy="502920"/>
          </a:xfrm>
          <a:prstGeom prst="rect">
            <a:avLst/>
          </a:prstGeom>
          <a:solidFill>
            <a:srgbClr val="C8A97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A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NewReservation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Müştəri rezerv edir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2834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Admin panel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474720"/>
            <a:ext cx="8595360" cy="502920"/>
          </a:xfrm>
          <a:prstGeom prst="rect">
            <a:avLst/>
          </a:prstGeom>
          <a:solidFill>
            <a:srgbClr val="24244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474720"/>
            <a:ext cx="54864" cy="502920"/>
          </a:xfrm>
          <a:prstGeom prst="rect">
            <a:avLst/>
          </a:prstGeom>
          <a:solidFill>
            <a:srgbClr val="E74A3B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474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TablePaymentRequest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608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Müştəri masada ödə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3474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Kassir bildirişi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14800"/>
            <a:ext cx="8595360" cy="502920"/>
          </a:xfrm>
          <a:prstGeom prst="rect">
            <a:avLst/>
          </a:prstGeom>
          <a:solidFill>
            <a:srgbClr val="24244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114800"/>
            <a:ext cx="54864" cy="5029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ReceiveMessage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2608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mesajı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0" y="4114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Müştəri ↔ Ofisiant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 admin panellər (Dashboard, Orders, Tables, Reservations, Kitchen, Cashier, Waiter) refreshsiz yenilənir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ÖDƏNİŞ SİSTEMİ — Kapital Bank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53035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5303520" cy="411480"/>
          </a:xfrm>
          <a:prstGeom prst="rect">
            <a:avLst/>
          </a:prstGeom>
          <a:solidFill>
            <a:srgbClr val="4E73D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Ödəniş Axını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Müştəri 'Onlayn ödə' basır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Backend → Kapital Bank API (Order_SMS)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Kapital Bank → hppUrl qaytarır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Müştəri kart daxil edir, ödəyir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Callback: payment-success.html?ID=xxx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Backend: complete-by-purchase → Completed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SignalR: TableClosed → müştəri çıxır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0" y="1005840"/>
            <a:ext cx="31546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60720" y="1005840"/>
            <a:ext cx="3154680" cy="411480"/>
          </a:xfrm>
          <a:prstGeom prst="rect">
            <a:avLst/>
          </a:prstGeom>
          <a:solidFill>
            <a:srgbClr val="1CC88A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Nağd / POS Terminal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508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Kassir paneldən təsdiq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dialog → Completed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→ müştəri çıxır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2468880"/>
            <a:ext cx="31546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0" y="2468880"/>
            <a:ext cx="3154680" cy="411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Mühiti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2971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txpgtst.kapitalbank.az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Kart: 4169741330151778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Exp: 06/25 | CVV: 119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A9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KÖMƏKÇİ  &amp;  TƏHLÜKƏSİZLİK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51960" cy="3200400"/>
          </a:xfrm>
          <a:prstGeom prst="rect">
            <a:avLst/>
          </a:prstGeom>
          <a:solidFill>
            <a:srgbClr val="24244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251960" cy="54864"/>
          </a:xfrm>
          <a:prstGeom prst="rect">
            <a:avLst/>
          </a:prstGeom>
          <a:solidFill>
            <a:srgbClr val="886FB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97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16002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menyunu DB-dən oxuyur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 dilində cavab verir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 haqqında məlumat verir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 müştəri səhifələrində widget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ilə qaydalar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914400"/>
            <a:ext cx="4251960" cy="3200400"/>
          </a:xfrm>
          <a:prstGeom prst="rect">
            <a:avLst/>
          </a:prstGeom>
          <a:solidFill>
            <a:srgbClr val="24244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914400"/>
            <a:ext cx="4251960" cy="54864"/>
          </a:xfrm>
          <a:prstGeom prst="rect">
            <a:avLst/>
          </a:prstGeom>
          <a:solidFill>
            <a:srgbClr val="1CC88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972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Təhlükəsizlik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16002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 autentifikasiya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Authorization (4 rol)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yalnız Admin üçün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FluentValidation server yoxlanışı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+ HasQueryFilter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qoruması (HTML Encode)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Cloudinary: fayl tipi + 5MB limit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Middleware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A9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 &amp;  NƏTİCƏ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51960" cy="2560320"/>
          </a:xfrm>
          <a:prstGeom prst="rect">
            <a:avLst/>
          </a:prstGeom>
          <a:solidFill>
            <a:srgbClr val="24244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251960" cy="54864"/>
          </a:xfrm>
          <a:prstGeom prst="rect">
            <a:avLst/>
          </a:prstGeom>
          <a:solidFill>
            <a:srgbClr val="36B9C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— Fly.io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(Fly Postgres)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deploy (push → deploy)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Custom domain dəstəyi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251960" cy="2560320"/>
          </a:xfrm>
          <a:prstGeom prst="rect">
            <a:avLst/>
          </a:prstGeom>
          <a:solidFill>
            <a:srgbClr val="24244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4251960" cy="54864"/>
          </a:xfrm>
          <a:prstGeom prst="rect">
            <a:avLst/>
          </a:prstGeom>
          <a:solidFill>
            <a:srgbClr val="C8A97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Layihə Statistikası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4632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Controller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0" y="1508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89520" y="1508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58952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84632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səhifə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0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1792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89520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58952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hadisə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0" y="3749040"/>
            <a:ext cx="5486400" cy="457200"/>
          </a:xfrm>
          <a:prstGeom prst="rect">
            <a:avLst/>
          </a:prstGeom>
          <a:solidFill>
            <a:srgbClr val="24244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82880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A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https://restoran-app.fly.dev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743200" y="4434840"/>
            <a:ext cx="3657600" cy="18288"/>
          </a:xfrm>
          <a:prstGeom prst="rect">
            <a:avLst/>
          </a:prstGeom>
          <a:solidFill>
            <a:srgbClr val="C8A97E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8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Diqqətiniz üçün təşəkkürlər!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8A97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644</Words>
  <Application>Microsoft Office PowerPoint</Application>
  <PresentationFormat>On-screen Show (16:9)</PresentationFormat>
  <Paragraphs>193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Restoran İdarəetmə Sistemi</dc:title>
  <dc:subject>PptxGenJS Presentation</dc:subject>
  <dc:creator>PptxGenJS</dc:creator>
  <cp:lastModifiedBy>SeyidAkif</cp:lastModifiedBy>
  <cp:revision>2</cp:revision>
  <dcterms:created xsi:type="dcterms:W3CDTF">2026-03-11T14:16:10Z</dcterms:created>
  <dcterms:modified xsi:type="dcterms:W3CDTF">2026-03-12T00:15:20Z</dcterms:modified>
</cp:coreProperties>
</file>